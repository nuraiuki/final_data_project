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5" r:id="rId10"/>
    <p:sldId id="269" r:id="rId11"/>
    <p:sldId id="263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4"/>
  </p:normalViewPr>
  <p:slideViewPr>
    <p:cSldViewPr snapToGrid="0" snapToObjects="1">
      <p:cViewPr varScale="1">
        <p:scale>
          <a:sx n="104" d="100"/>
          <a:sy n="104" d="100"/>
        </p:scale>
        <p:origin x="18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Сегментация клиентов и товаров в ритейле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построить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сегментации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инструмент</a:t>
            </a:r>
            <a:r>
              <a:rPr dirty="0"/>
              <a:t> </a:t>
            </a:r>
            <a:r>
              <a:rPr dirty="0" err="1"/>
              <a:t>рекомендаций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бизнеса</a:t>
            </a:r>
            <a:r>
              <a:rPr dirty="0"/>
              <a:t>.</a:t>
            </a:r>
            <a:endParaRPr lang="kk-KZ" dirty="0"/>
          </a:p>
          <a:p>
            <a:endParaRPr lang="ru-KZ" dirty="0"/>
          </a:p>
          <a:p>
            <a:r>
              <a:rPr lang="kk-KZ" dirty="0"/>
              <a:t>Қуандық </a:t>
            </a:r>
            <a:r>
              <a:rPr lang="kk-KZ" dirty="0" err="1"/>
              <a:t>Нұрайым</a:t>
            </a:r>
            <a:r>
              <a:rPr lang="kk-KZ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Бизнес-проблема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Компания не понимает, какие клиенты приносят наибольшую ценность и какие товары формируют выручку.</a:t>
            </a:r>
          </a:p>
          <a:p>
            <a:r>
              <a:t>Маркетинг работает неэффективно.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Сегментировать клиентов и товары, выявить паттерны поведения и создать систему персональных рекомендаций.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Данные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6.6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транзакций</a:t>
            </a:r>
            <a:endParaRPr dirty="0"/>
          </a:p>
          <a:p>
            <a:r>
              <a:rPr dirty="0"/>
              <a:t>98 </a:t>
            </a:r>
            <a:r>
              <a:rPr dirty="0" err="1"/>
              <a:t>тыс</a:t>
            </a:r>
            <a:r>
              <a:rPr dirty="0"/>
              <a:t>. </a:t>
            </a:r>
            <a:r>
              <a:rPr dirty="0" err="1"/>
              <a:t>клиентов</a:t>
            </a:r>
            <a:endParaRPr dirty="0"/>
          </a:p>
          <a:p>
            <a:r>
              <a:rPr dirty="0"/>
              <a:t>452 </a:t>
            </a:r>
            <a:r>
              <a:rPr dirty="0" err="1"/>
              <a:t>товара</a:t>
            </a:r>
            <a:endParaRPr lang="ru-K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Подготовка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Удалены дубликаты и пропуски.</a:t>
            </a:r>
          </a:p>
          <a:p>
            <a:r>
              <a:t>Создана метрика выручки.</a:t>
            </a:r>
          </a:p>
          <a:p>
            <a:r>
              <a:t>Проведена проверка корректности данных.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081"/>
            <a:ext cx="8229600" cy="1143000"/>
          </a:xfrm>
        </p:spPr>
        <p:txBody>
          <a:bodyPr/>
          <a:lstStyle/>
          <a:p>
            <a:r>
              <a:rPr dirty="0" err="1"/>
              <a:t>Фичи</a:t>
            </a:r>
            <a:r>
              <a:rPr dirty="0"/>
              <a:t> </a:t>
            </a:r>
            <a:r>
              <a:rPr lang="ru-RU" dirty="0"/>
              <a:t>клиентов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5529"/>
            <a:ext cx="2440460" cy="31234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 err="1"/>
              <a:t>total_spent</a:t>
            </a:r>
            <a:r>
              <a:rPr sz="1800" dirty="0"/>
              <a:t>, </a:t>
            </a:r>
            <a:r>
              <a:rPr sz="1800" dirty="0" err="1"/>
              <a:t>avg_check</a:t>
            </a:r>
            <a:r>
              <a:rPr sz="1800" dirty="0"/>
              <a:t>, </a:t>
            </a:r>
            <a:r>
              <a:rPr sz="1800" dirty="0" err="1"/>
              <a:t>num_checks</a:t>
            </a:r>
            <a:r>
              <a:rPr sz="1800" dirty="0"/>
              <a:t>, </a:t>
            </a:r>
            <a:r>
              <a:rPr sz="1800" dirty="0" err="1"/>
              <a:t>total_items</a:t>
            </a:r>
            <a:r>
              <a:rPr sz="1800" dirty="0"/>
              <a:t>, </a:t>
            </a:r>
            <a:r>
              <a:rPr sz="1800" dirty="0" err="1"/>
              <a:t>avg_items_per_chec</a:t>
            </a:r>
            <a:r>
              <a:rPr lang="en-US" sz="1800" dirty="0" err="1"/>
              <a:t>k</a:t>
            </a:r>
            <a:r>
              <a:rPr sz="1800" dirty="0"/>
              <a:t>, recency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BFBAC1-5E61-8AC6-0622-5BB15A570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78" y="2003565"/>
            <a:ext cx="6932141" cy="21361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2E7E39-6B1B-698D-6887-9A36AAD313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097"/>
          <a:stretch/>
        </p:blipFill>
        <p:spPr>
          <a:xfrm>
            <a:off x="920578" y="4146026"/>
            <a:ext cx="6932141" cy="2222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13D6AE-DBAF-AD68-5AC9-97F80DABED04}"/>
              </a:ext>
            </a:extLst>
          </p:cNvPr>
          <p:cNvSpPr txBox="1"/>
          <p:nvPr/>
        </p:nvSpPr>
        <p:spPr>
          <a:xfrm>
            <a:off x="2384853" y="843621"/>
            <a:ext cx="693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Из транзакций были созданы клиентские и товарные признаки</a:t>
            </a:r>
            <a:endParaRPr lang="ru-KZ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D954B-47AD-6CC4-72A7-78D8F19D4F6F}"/>
              </a:ext>
            </a:extLst>
          </p:cNvPr>
          <p:cNvSpPr txBox="1"/>
          <p:nvPr/>
        </p:nvSpPr>
        <p:spPr>
          <a:xfrm>
            <a:off x="6731343" y="310115"/>
            <a:ext cx="22427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 err="1"/>
              <a:t>total_quantity_sold</a:t>
            </a:r>
            <a:r>
              <a:rPr lang="en" dirty="0"/>
              <a:t> </a:t>
            </a:r>
            <a:r>
              <a:rPr lang="en" dirty="0" err="1"/>
              <a:t>total_revenue</a:t>
            </a:r>
            <a:r>
              <a:rPr lang="en" dirty="0"/>
              <a:t> </a:t>
            </a:r>
            <a:r>
              <a:rPr lang="en" dirty="0" err="1"/>
              <a:t>num_transactions</a:t>
            </a:r>
            <a:r>
              <a:rPr lang="en" dirty="0"/>
              <a:t> </a:t>
            </a:r>
            <a:r>
              <a:rPr lang="en" dirty="0" err="1"/>
              <a:t>num_customers</a:t>
            </a:r>
            <a:r>
              <a:rPr lang="en" dirty="0"/>
              <a:t> </a:t>
            </a:r>
            <a:r>
              <a:rPr lang="en" dirty="0" err="1"/>
              <a:t>avg_discount</a:t>
            </a:r>
            <a:endParaRPr lang="ru-KZ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динамика выручки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6084"/>
            <a:ext cx="8229600" cy="4525963"/>
          </a:xfrm>
        </p:spPr>
        <p:txBody>
          <a:bodyPr/>
          <a:lstStyle/>
          <a:p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показал</a:t>
            </a:r>
            <a:r>
              <a:rPr dirty="0"/>
              <a:t> </a:t>
            </a:r>
            <a:r>
              <a:rPr dirty="0" err="1"/>
              <a:t>пик</a:t>
            </a:r>
            <a:r>
              <a:rPr dirty="0"/>
              <a:t> </a:t>
            </a:r>
            <a:r>
              <a:rPr dirty="0" err="1"/>
              <a:t>выручки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марте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217C5A-E16E-CC63-ED12-E408D4C06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0439"/>
            <a:ext cx="5112366" cy="232518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91FA3D-459F-653B-1AAA-FD9E4E747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368" y="4515742"/>
            <a:ext cx="4596713" cy="2090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Сегментация клиентов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Использован</a:t>
            </a:r>
            <a:r>
              <a:rPr dirty="0"/>
              <a:t> </a:t>
            </a: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KMeans</a:t>
            </a:r>
            <a:r>
              <a:rPr dirty="0"/>
              <a:t>.</a:t>
            </a:r>
          </a:p>
          <a:p>
            <a:r>
              <a:rPr dirty="0" err="1"/>
              <a:t>Оптимальное</a:t>
            </a:r>
            <a:r>
              <a:rPr dirty="0"/>
              <a:t> </a:t>
            </a:r>
            <a:r>
              <a:rPr dirty="0" err="1"/>
              <a:t>число</a:t>
            </a:r>
            <a:r>
              <a:rPr dirty="0"/>
              <a:t> </a:t>
            </a:r>
            <a:r>
              <a:rPr dirty="0" err="1"/>
              <a:t>кластеров</a:t>
            </a:r>
            <a:r>
              <a:rPr dirty="0"/>
              <a:t>: 4.</a:t>
            </a:r>
            <a:endParaRPr lang="ru-RU" dirty="0"/>
          </a:p>
          <a:p>
            <a:endParaRPr lang="ru-KZ" dirty="0"/>
          </a:p>
          <a:p>
            <a:r>
              <a:rPr lang="en" dirty="0"/>
              <a:t>VIP, Regular, At-risk, Low value.</a:t>
            </a:r>
          </a:p>
          <a:p>
            <a:r>
              <a:rPr lang="ru-RU" dirty="0"/>
              <a:t>Каждый сегмент имеет различное поведение и ценность.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73B19-8563-CF86-195E-91570A26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B4E762C-4A29-8C26-AF75-3BD89EADB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2642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8ACAE-13D7-1063-B112-AA6950977B8B}"/>
              </a:ext>
            </a:extLst>
          </p:cNvPr>
          <p:cNvSpPr txBox="1"/>
          <p:nvPr/>
        </p:nvSpPr>
        <p:spPr>
          <a:xfrm>
            <a:off x="834081" y="4060605"/>
            <a:ext cx="78527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  <a:latin typeface="Menlo" panose="020B0609030804020204" pitchFamily="49" charset="0"/>
              </a:rPr>
              <a:t>Для выбора количества кластеров были использованы </a:t>
            </a:r>
            <a:r>
              <a:rPr lang="en" b="0" dirty="0">
                <a:effectLst/>
                <a:latin typeface="Menlo" panose="020B0609030804020204" pitchFamily="49" charset="0"/>
              </a:rPr>
              <a:t>Elbow Method </a:t>
            </a:r>
            <a:r>
              <a:rPr lang="ru-RU" b="0" dirty="0">
                <a:effectLst/>
                <a:latin typeface="Menlo" panose="020B0609030804020204" pitchFamily="49" charset="0"/>
              </a:rPr>
              <a:t>и </a:t>
            </a:r>
            <a:r>
              <a:rPr lang="en" b="0" dirty="0">
                <a:effectLst/>
                <a:latin typeface="Menlo" panose="020B0609030804020204" pitchFamily="49" charset="0"/>
              </a:rPr>
              <a:t>Silhouette Score.</a:t>
            </a:r>
          </a:p>
          <a:p>
            <a:br>
              <a:rPr lang="en" b="0" dirty="0">
                <a:effectLst/>
                <a:latin typeface="Menlo" panose="020B0609030804020204" pitchFamily="49" charset="0"/>
              </a:rPr>
            </a:br>
            <a:r>
              <a:rPr lang="ru-RU" b="0" dirty="0">
                <a:effectLst/>
                <a:latin typeface="Menlo" panose="020B0609030804020204" pitchFamily="49" charset="0"/>
              </a:rPr>
              <a:t>коэффициент силуэта</a:t>
            </a:r>
            <a:r>
              <a:rPr lang="en-US" b="0" dirty="0">
                <a:effectLst/>
                <a:latin typeface="Menlo" panose="020B0609030804020204" pitchFamily="49" charset="0"/>
              </a:rPr>
              <a:t> </a:t>
            </a:r>
            <a:r>
              <a:rPr lang="ru-RU" b="0" dirty="0">
                <a:effectLst/>
                <a:latin typeface="Menlo" panose="020B0609030804020204" pitchFamily="49" charset="0"/>
              </a:rPr>
              <a:t>максимален при </a:t>
            </a:r>
            <a:r>
              <a:rPr lang="en" b="0" dirty="0">
                <a:effectLst/>
                <a:latin typeface="Menlo" panose="020B0609030804020204" pitchFamily="49" charset="0"/>
              </a:rPr>
              <a:t>k=2 (0.41), </a:t>
            </a:r>
            <a:r>
              <a:rPr lang="ru-RU" b="0" dirty="0">
                <a:effectLst/>
                <a:latin typeface="Menlo" panose="020B0609030804020204" pitchFamily="49" charset="0"/>
              </a:rPr>
              <a:t>что говорит о хорошем разделении на 2 кластера.</a:t>
            </a:r>
          </a:p>
          <a:p>
            <a:br>
              <a:rPr lang="ru-RU" b="0" dirty="0">
                <a:effectLst/>
                <a:latin typeface="Menlo" panose="020B0609030804020204" pitchFamily="49" charset="0"/>
              </a:rPr>
            </a:br>
            <a:r>
              <a:rPr lang="ru-RU" b="0" dirty="0">
                <a:effectLst/>
                <a:latin typeface="Menlo" panose="020B0609030804020204" pitchFamily="49" charset="0"/>
              </a:rPr>
              <a:t>Однако </a:t>
            </a:r>
            <a:r>
              <a:rPr lang="en" b="0" dirty="0">
                <a:effectLst/>
                <a:latin typeface="Menlo" panose="020B0609030804020204" pitchFamily="49" charset="0"/>
              </a:rPr>
              <a:t>Elbow Method </a:t>
            </a:r>
            <a:r>
              <a:rPr lang="ru-RU" b="0" dirty="0">
                <a:effectLst/>
                <a:latin typeface="Menlo" panose="020B0609030804020204" pitchFamily="49" charset="0"/>
              </a:rPr>
              <a:t>показывает "излом" в районе </a:t>
            </a:r>
            <a:r>
              <a:rPr lang="en" b="0" dirty="0">
                <a:effectLst/>
                <a:latin typeface="Menlo" panose="020B0609030804020204" pitchFamily="49" charset="0"/>
              </a:rPr>
              <a:t>k=3–4. </a:t>
            </a:r>
            <a:r>
              <a:rPr lang="ru-RU" b="0" dirty="0">
                <a:effectLst/>
                <a:latin typeface="Menlo" panose="020B0609030804020204" pitchFamily="49" charset="0"/>
              </a:rPr>
              <a:t>Поэтому для более детальной сегментации клиентов было выбрано </a:t>
            </a:r>
            <a:r>
              <a:rPr lang="en" b="0" dirty="0">
                <a:effectLst/>
                <a:latin typeface="Menlo" panose="020B0609030804020204" pitchFamily="49" charset="0"/>
              </a:rPr>
              <a:t>k=4, </a:t>
            </a:r>
            <a:r>
              <a:rPr lang="ru-RU" b="0" dirty="0">
                <a:effectLst/>
                <a:latin typeface="Menlo" panose="020B0609030804020204" pitchFamily="49" charset="0"/>
              </a:rPr>
              <a:t>что позволяет выделить несколько типов поведения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140696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054" y="0"/>
            <a:ext cx="7772400" cy="870042"/>
          </a:xfrm>
        </p:spPr>
        <p:txBody>
          <a:bodyPr/>
          <a:lstStyle/>
          <a:p>
            <a:r>
              <a:rPr lang="ru-RU" dirty="0" err="1"/>
              <a:t>Профил</a:t>
            </a:r>
            <a:r>
              <a:rPr lang="ru-RU" dirty="0"/>
              <a:t> кластеров</a:t>
            </a:r>
            <a:endParaRPr dirty="0"/>
          </a:p>
        </p:txBody>
      </p:sp>
      <p:pic>
        <p:nvPicPr>
          <p:cNvPr id="3" name="Picture 2" descr="e9be60fe-aa60-41fa-8b0d-caf4bc35ed85.png"/>
          <p:cNvPicPr>
            <a:picLocks noChangeAspect="1"/>
          </p:cNvPicPr>
          <p:nvPr/>
        </p:nvPicPr>
        <p:blipFill rotWithShape="1">
          <a:blip r:embed="rId2"/>
          <a:srcRect b="16845"/>
          <a:stretch/>
        </p:blipFill>
        <p:spPr>
          <a:xfrm>
            <a:off x="1127554" y="1144680"/>
            <a:ext cx="6888892" cy="190624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F6DEE1-F110-1BCA-F476-81D14890C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54" y="4816264"/>
            <a:ext cx="6888892" cy="17941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60EBE9-B905-8170-CC96-F82D8F615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38040"/>
            <a:ext cx="7315200" cy="1767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3" name="Picture 2" descr="2143c871-11ae-4191-bb2e-90532cca3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475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Визуализация</a:t>
            </a:r>
            <a:r>
              <a:rPr dirty="0"/>
              <a:t> </a:t>
            </a:r>
            <a:r>
              <a:rPr dirty="0" err="1"/>
              <a:t>кластеров</a:t>
            </a:r>
            <a:endParaRPr dirty="0"/>
          </a:p>
        </p:txBody>
      </p:sp>
      <p:pic>
        <p:nvPicPr>
          <p:cNvPr id="3" name="Picture 2" descr="529102a4-b980-4334-8d42-9f3df609e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246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Сегментация товаров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Товары разделены на группы по выручке, популярности и количеству транзакций.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2540D8-5D63-4261-DCC6-820A9AFA9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48739"/>
            <a:ext cx="7772400" cy="27600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Топ категории по выручке</a:t>
            </a:r>
          </a:p>
        </p:txBody>
      </p:sp>
      <p:pic>
        <p:nvPicPr>
          <p:cNvPr id="3" name="Picture 2" descr="c628d1ce-b754-423b-9f03-a55ab9763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70186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619AF2-9480-F71C-9B3A-9A9B6091E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80719"/>
            <a:ext cx="7772400" cy="32492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Рекомендательная логика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любимая</a:t>
            </a:r>
            <a:r>
              <a:rPr dirty="0"/>
              <a:t> </a:t>
            </a:r>
            <a:r>
              <a:rPr dirty="0" err="1"/>
              <a:t>категория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.</a:t>
            </a:r>
          </a:p>
          <a:p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категории</a:t>
            </a:r>
            <a:r>
              <a:rPr dirty="0"/>
              <a:t> </a:t>
            </a:r>
            <a:r>
              <a:rPr dirty="0" err="1"/>
              <a:t>формируются</a:t>
            </a:r>
            <a:r>
              <a:rPr dirty="0"/>
              <a:t> </a:t>
            </a:r>
            <a:r>
              <a:rPr dirty="0" err="1"/>
              <a:t>рекомендации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E28ED-89A8-F057-619B-5E2CCFAA314A}"/>
              </a:ext>
            </a:extLst>
          </p:cNvPr>
          <p:cNvSpPr txBox="1"/>
          <p:nvPr/>
        </p:nvSpPr>
        <p:spPr>
          <a:xfrm>
            <a:off x="685800" y="3268529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effectLst/>
                <a:latin typeface="Menlo" panose="020B0609030804020204" pitchFamily="49" charset="0"/>
              </a:rPr>
              <a:t>рекомендация зависит от двух факторов:</a:t>
            </a:r>
          </a:p>
          <a:p>
            <a:r>
              <a:rPr lang="ru-RU" b="0" dirty="0">
                <a:effectLst/>
                <a:latin typeface="Menlo" panose="020B0609030804020204" pitchFamily="49" charset="0"/>
              </a:rPr>
              <a:t>- сегмент клиента</a:t>
            </a:r>
          </a:p>
          <a:p>
            <a:r>
              <a:rPr lang="ru-RU" b="0" dirty="0">
                <a:effectLst/>
                <a:latin typeface="Menlo" panose="020B0609030804020204" pitchFamily="49" charset="0"/>
              </a:rPr>
              <a:t>- любимая товарная категория</a:t>
            </a:r>
          </a:p>
          <a:p>
            <a:br>
              <a:rPr lang="ru-RU" b="0" dirty="0">
                <a:effectLst/>
                <a:latin typeface="Menlo" panose="020B0609030804020204" pitchFamily="49" charset="0"/>
              </a:rPr>
            </a:br>
            <a:endParaRPr lang="ru-RU" b="0" dirty="0">
              <a:effectLst/>
              <a:latin typeface="Menlo" panose="020B060903080402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99B511-AF02-82C4-BD12-CC5A5FBC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39962"/>
            <a:ext cx="7772400" cy="1801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Реализовано</a:t>
            </a:r>
            <a:r>
              <a:rPr dirty="0"/>
              <a:t> </a:t>
            </a:r>
            <a:r>
              <a:rPr dirty="0" err="1"/>
              <a:t>Streamlit-приложение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сегментации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генерации</a:t>
            </a:r>
            <a:r>
              <a:rPr dirty="0"/>
              <a:t> </a:t>
            </a:r>
            <a:r>
              <a:rPr dirty="0" err="1"/>
              <a:t>рекомендаций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Бизнес-ценность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Персонализация маркетинга</a:t>
            </a:r>
          </a:p>
          <a:p>
            <a:r>
              <a:t>Рост выручки</a:t>
            </a:r>
          </a:p>
          <a:p>
            <a:r>
              <a:t>Снижение оттока клиентов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Короткий</a:t>
            </a:r>
            <a:r>
              <a:rPr dirty="0"/>
              <a:t> </a:t>
            </a:r>
            <a:r>
              <a:rPr dirty="0" err="1"/>
              <a:t>период</a:t>
            </a:r>
            <a:r>
              <a:rPr dirty="0"/>
              <a:t> </a:t>
            </a:r>
            <a:r>
              <a:rPr dirty="0" err="1"/>
              <a:t>данных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Период: январь–май 2018</a:t>
            </a:r>
            <a:endParaRPr dirty="0"/>
          </a:p>
          <a:p>
            <a:r>
              <a:rPr lang="en" dirty="0" err="1"/>
              <a:t>TransactionNumber</a:t>
            </a:r>
            <a:r>
              <a:rPr lang="en" dirty="0"/>
              <a:t> = </a:t>
            </a:r>
            <a:r>
              <a:rPr lang="ru-RU" dirty="0"/>
              <a:t>одна товарная позиция, не полноценная корзина </a:t>
            </a:r>
            <a:endParaRPr lang="en-US" dirty="0"/>
          </a:p>
          <a:p>
            <a:r>
              <a:rPr lang="en" dirty="0" err="1"/>
              <a:t>KMeans</a:t>
            </a:r>
            <a:r>
              <a:rPr lang="en" dirty="0"/>
              <a:t> </a:t>
            </a:r>
            <a:r>
              <a:rPr lang="ru-RU" dirty="0"/>
              <a:t>чувствителен к </a:t>
            </a:r>
            <a:r>
              <a:rPr lang="en" dirty="0"/>
              <a:t>scaling </a:t>
            </a:r>
            <a:r>
              <a:rPr lang="ru-RU" dirty="0"/>
              <a:t>и выбору признаков 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Построена система от данных до рекомендаций.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объединила таблицы, провела валидацию, создала признаки, сегментировала клиентов и товары, а затем собрала </a:t>
            </a:r>
            <a:r>
              <a:rPr lang="en" dirty="0" err="1"/>
              <a:t>Streamlit</a:t>
            </a:r>
            <a:r>
              <a:rPr lang="en" dirty="0"/>
              <a:t>-</a:t>
            </a:r>
            <a:r>
              <a:rPr lang="ru-RU" dirty="0"/>
              <a:t>приложение, которое помогает менеджеру принимать маркетинговые решения.</a:t>
            </a:r>
          </a:p>
          <a:p>
            <a:endParaRPr lang="ru-RU" dirty="0"/>
          </a:p>
          <a:p>
            <a:r>
              <a:rPr lang="ru-RU" dirty="0"/>
              <a:t>Использовался </a:t>
            </a:r>
            <a:r>
              <a:rPr lang="en" dirty="0" err="1"/>
              <a:t>KMeans</a:t>
            </a:r>
            <a:r>
              <a:rPr lang="en" dirty="0"/>
              <a:t> </a:t>
            </a:r>
            <a:r>
              <a:rPr lang="ru-RU" dirty="0"/>
              <a:t>для кластеризации, </a:t>
            </a:r>
            <a:r>
              <a:rPr lang="en" dirty="0" err="1"/>
              <a:t>StandardScaler</a:t>
            </a:r>
            <a:r>
              <a:rPr lang="en" dirty="0"/>
              <a:t> </a:t>
            </a:r>
            <a:r>
              <a:rPr lang="ru-RU" dirty="0"/>
              <a:t>для нормализации и </a:t>
            </a:r>
            <a:r>
              <a:rPr lang="en" dirty="0"/>
              <a:t>Silhouette + Elbow </a:t>
            </a:r>
            <a:r>
              <a:rPr lang="ru-RU" dirty="0"/>
              <a:t>для оценки качества.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392</Words>
  <Application>Microsoft Macintosh PowerPoint</Application>
  <PresentationFormat>Экран (4:3)</PresentationFormat>
  <Paragraphs>60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Menlo</vt:lpstr>
      <vt:lpstr>Office Theme</vt:lpstr>
      <vt:lpstr>Сегментация клиентов и товаров в ритейле</vt:lpstr>
      <vt:lpstr>Бизнес-проблема</vt:lpstr>
      <vt:lpstr>Цель проекта</vt:lpstr>
      <vt:lpstr>Данные</vt:lpstr>
      <vt:lpstr>Подготовка данных</vt:lpstr>
      <vt:lpstr>Фичи клиентов</vt:lpstr>
      <vt:lpstr>EDA: динамика выручки</vt:lpstr>
      <vt:lpstr>Сегментация клиентов</vt:lpstr>
      <vt:lpstr>Презентация PowerPoint</vt:lpstr>
      <vt:lpstr>Профил кластеров</vt:lpstr>
      <vt:lpstr>Презентация PowerPoint</vt:lpstr>
      <vt:lpstr>Визуализация кластеров</vt:lpstr>
      <vt:lpstr>Сегментация товаров</vt:lpstr>
      <vt:lpstr>Топ категории по выручке</vt:lpstr>
      <vt:lpstr>Рекомендательная логика</vt:lpstr>
      <vt:lpstr>Приложение</vt:lpstr>
      <vt:lpstr>Бизнес-ценность</vt:lpstr>
      <vt:lpstr>Ограничения</vt:lpstr>
      <vt:lpstr>Вывод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Сегментация клиентов и товаров в ритейле</dc:title>
  <dc:subject/>
  <dc:creator/>
  <cp:keywords/>
  <dc:description>generated using python-pptx</dc:description>
  <cp:lastModifiedBy>Nurkhat Zhakiyev</cp:lastModifiedBy>
  <cp:revision>3</cp:revision>
  <dcterms:created xsi:type="dcterms:W3CDTF">2013-01-27T09:14:16Z</dcterms:created>
  <dcterms:modified xsi:type="dcterms:W3CDTF">2026-04-30T04:11:11Z</dcterms:modified>
  <cp:category/>
</cp:coreProperties>
</file>